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7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Master" Target="slideMasters/slideMaster1.xml"/><Relationship Id="rId18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219200" y="1295400"/>
            <a:ext cx="97536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marR="0" indent="0" lvl="0"/>
            <a:endParaRPr lang="ru-RU"/>
            <a:r>
              <a:rPr lang="ru-RU" sz="8300">
                <a:solidFill>
                  <a:srgbClr val="171516"/>
                </a:solidFill>
                <a:latin typeface="Georgia"/>
                <a:ea typeface="Georgia"/>
              </a:rPr>
              <a:t>♛</a:t>
            </a:r>
          </a:p>
        </p:txBody>
      </p:sp>
      <p:sp>
        <p:nvSpPr>
          <p:cNvPr id="3" name="Shape 3"/>
          <p:cNvSpPr/>
          <p:nvPr/>
        </p:nvSpPr>
        <p:spPr>
          <a:xfrm>
            <a:off x="4754880" y="2316480"/>
            <a:ext cx="2667000" cy="22860"/>
          </a:xfrm>
          <a:prstGeom prst="rect">
            <a:avLst/>
          </a:prstGeom>
          <a:solidFill>
            <a:srgbClr val="171516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1203960" y="2567940"/>
            <a:ext cx="978408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marR="0" indent="0" lvl="0"/>
            <a:endParaRPr lang="ru-RU"/>
            <a:r>
              <a:rPr lang="ru-RU" sz="7600">
                <a:solidFill>
                  <a:srgbClr val="171516"/>
                </a:solidFill>
                <a:latin typeface="Georgia"/>
                <a:ea typeface="Georgia"/>
              </a:rPr>
              <a:t>Миссис Россия</a:t>
            </a:r>
          </a:p>
        </p:txBody>
      </p:sp>
      <p:sp>
        <p:nvSpPr>
          <p:cNvPr id="5" name="Shape 5"/>
          <p:cNvSpPr/>
          <p:nvPr/>
        </p:nvSpPr>
        <p:spPr>
          <a:xfrm>
            <a:off x="1066800" y="3398520"/>
            <a:ext cx="10058400" cy="1104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marR="0" indent="0" lvl="0"/>
            <a:endParaRPr lang="ru-RU"/>
            <a:r>
              <a:rPr lang="ru-RU" sz="12200">
                <a:solidFill>
                  <a:srgbClr val="171516"/>
                </a:solidFill>
                <a:latin typeface="Georgia"/>
                <a:ea typeface="Georgia"/>
              </a:rPr>
              <a:t>ИВАНОВО</a:t>
            </a:r>
          </a:p>
        </p:txBody>
      </p:sp>
      <p:sp>
        <p:nvSpPr>
          <p:cNvPr id="6" name="Shape 6"/>
          <p:cNvSpPr/>
          <p:nvPr/>
        </p:nvSpPr>
        <p:spPr>
          <a:xfrm>
            <a:off x="4754880" y="4907280"/>
            <a:ext cx="2667000" cy="22860"/>
          </a:xfrm>
          <a:prstGeom prst="rect">
            <a:avLst/>
          </a:prstGeom>
          <a:solidFill>
            <a:srgbClr val="171516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944880"/>
            <a:ext cx="30480" cy="4895377560"/>
          </a:xfrm>
          <a:prstGeom prst="rect">
            <a:avLst/>
          </a:prstGeom>
          <a:solidFill>
            <a:srgbClr val="6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104900" y="1143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000" b="1">
                <a:solidFill>
                  <a:srgbClr val="642438"/>
                </a:solidFill>
                <a:latin typeface="Arial"/>
                <a:ea typeface="Arial"/>
              </a:rPr>
              <a:t>ЧАСТЬ I</a:t>
            </a:r>
          </a:p>
        </p:txBody>
      </p:sp>
      <p:sp>
        <p:nvSpPr>
          <p:cNvPr id="4" name="Shape 4"/>
          <p:cNvSpPr/>
          <p:nvPr/>
        </p:nvSpPr>
        <p:spPr>
          <a:xfrm>
            <a:off x="1104900" y="2438400"/>
            <a:ext cx="10439400" cy="1219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11700">
                <a:solidFill>
                  <a:srgbClr val="171516"/>
                </a:solidFill>
                <a:latin typeface="Georgia"/>
                <a:ea typeface="Georgia"/>
              </a:rPr>
              <a:t>ВЕРБАЛЬНЫЕ</a:t>
            </a:r>
          </a:p>
        </p:txBody>
      </p:sp>
      <p:sp>
        <p:nvSpPr>
          <p:cNvPr id="5" name="Shape 5"/>
          <p:cNvSpPr/>
          <p:nvPr/>
        </p:nvSpPr>
        <p:spPr>
          <a:xfrm>
            <a:off x="1104900" y="3695700"/>
            <a:ext cx="102870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13600">
                <a:solidFill>
                  <a:srgbClr val="171516"/>
                </a:solidFill>
                <a:latin typeface="Georgia"/>
                <a:ea typeface="Georgia"/>
              </a:rPr>
              <a:t>СИГНАЛЫ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07720" y="66294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500">
                <a:solidFill>
                  <a:srgbClr val="171516"/>
                </a:solidFill>
                <a:latin typeface="Georgia"/>
                <a:ea typeface="Georgia"/>
              </a:rPr>
              <a:t>Главная героиня</a:t>
            </a:r>
          </a:p>
        </p:txBody>
      </p:sp>
      <p:sp>
        <p:nvSpPr>
          <p:cNvPr id="3" name="Shape 3"/>
          <p:cNvSpPr/>
          <p:nvPr/>
        </p:nvSpPr>
        <p:spPr>
          <a:xfrm>
            <a:off x="822960" y="1371600"/>
            <a:ext cx="708660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500">
                <a:solidFill>
                  <a:srgbClr val="171516"/>
                </a:solidFill>
                <a:latin typeface="Georgia"/>
                <a:ea typeface="Georgia"/>
              </a:rPr>
              <a:t>речи —</a:t>
            </a:r>
          </a:p>
        </p:txBody>
      </p:sp>
      <p:sp>
        <p:nvSpPr>
          <p:cNvPr id="4" name="Shape 4"/>
          <p:cNvSpPr/>
          <p:nvPr/>
        </p:nvSpPr>
        <p:spPr>
          <a:xfrm>
            <a:off x="7734300" y="1295400"/>
            <a:ext cx="3886200" cy="2362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22900">
                <a:solidFill>
                  <a:srgbClr val="642438"/>
                </a:solidFill>
                <a:latin typeface="Georgia"/>
                <a:ea typeface="Georgia"/>
              </a:rPr>
              <a:t>ВЫ</a:t>
            </a:r>
          </a:p>
        </p:txBody>
      </p:sp>
      <p:sp>
        <p:nvSpPr>
          <p:cNvPr id="5" name="Shape 5"/>
          <p:cNvSpPr/>
          <p:nvPr/>
        </p:nvSpPr>
        <p:spPr>
          <a:xfrm>
            <a:off x="800100" y="3154680"/>
            <a:ext cx="10553700" cy="15240"/>
          </a:xfrm>
          <a:prstGeom prst="rect">
            <a:avLst/>
          </a:prstGeom>
          <a:solidFill>
            <a:srgbClr val="171516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38200" y="3901440"/>
            <a:ext cx="3276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200" b="1">
                <a:solidFill>
                  <a:srgbClr val="171516"/>
                </a:solidFill>
                <a:latin typeface="Arial"/>
                <a:ea typeface="Arial"/>
              </a:rPr>
              <a:t>СЕМЬЯ</a:t>
            </a:r>
          </a:p>
        </p:txBody>
      </p:sp>
      <p:sp>
        <p:nvSpPr>
          <p:cNvPr id="7" name="Shape 7"/>
          <p:cNvSpPr/>
          <p:nvPr/>
        </p:nvSpPr>
        <p:spPr>
          <a:xfrm>
            <a:off x="4533900" y="3901440"/>
            <a:ext cx="3276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200" b="1">
                <a:solidFill>
                  <a:srgbClr val="171516"/>
                </a:solidFill>
                <a:latin typeface="Arial"/>
                <a:ea typeface="Arial"/>
              </a:rPr>
              <a:t>ДЕЛО</a:t>
            </a:r>
          </a:p>
        </p:txBody>
      </p:sp>
      <p:sp>
        <p:nvSpPr>
          <p:cNvPr id="8" name="Shape 8"/>
          <p:cNvSpPr/>
          <p:nvPr/>
        </p:nvSpPr>
        <p:spPr>
          <a:xfrm>
            <a:off x="8153400" y="3901440"/>
            <a:ext cx="3276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200" b="1">
                <a:solidFill>
                  <a:srgbClr val="171516"/>
                </a:solidFill>
                <a:latin typeface="Arial"/>
                <a:ea typeface="Arial"/>
              </a:rPr>
              <a:t>ТАЛАНТЫ</a:t>
            </a:r>
          </a:p>
        </p:txBody>
      </p:sp>
      <p:sp>
        <p:nvSpPr>
          <p:cNvPr id="9" name="Shape 9"/>
          <p:cNvSpPr/>
          <p:nvPr/>
        </p:nvSpPr>
        <p:spPr>
          <a:xfrm>
            <a:off x="838200" y="5082540"/>
            <a:ext cx="3276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200" b="1">
                <a:solidFill>
                  <a:srgbClr val="171516"/>
                </a:solidFill>
                <a:latin typeface="Arial"/>
                <a:ea typeface="Arial"/>
              </a:rPr>
              <a:t>ЦЕННОСТИ</a:t>
            </a:r>
          </a:p>
        </p:txBody>
      </p:sp>
      <p:sp>
        <p:nvSpPr>
          <p:cNvPr id="10" name="Shape 10"/>
          <p:cNvSpPr/>
          <p:nvPr/>
        </p:nvSpPr>
        <p:spPr>
          <a:xfrm>
            <a:off x="4533900" y="5082540"/>
            <a:ext cx="3276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200" b="1">
                <a:solidFill>
                  <a:srgbClr val="171516"/>
                </a:solidFill>
                <a:latin typeface="Arial"/>
                <a:ea typeface="Arial"/>
              </a:rPr>
              <a:t>ДОСТИЖЕНИЯ</a:t>
            </a:r>
          </a:p>
        </p:txBody>
      </p:sp>
      <p:sp>
        <p:nvSpPr>
          <p:cNvPr id="11" name="Shape 11"/>
          <p:cNvSpPr/>
          <p:nvPr/>
        </p:nvSpPr>
        <p:spPr>
          <a:xfrm>
            <a:off x="8153400" y="5082540"/>
            <a:ext cx="3276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200" b="1">
                <a:solidFill>
                  <a:srgbClr val="171516"/>
                </a:solidFill>
                <a:latin typeface="Arial"/>
                <a:ea typeface="Arial"/>
              </a:rPr>
              <a:t>АМБИЦИИ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63246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200">
                <a:solidFill>
                  <a:srgbClr val="171516"/>
                </a:solidFill>
                <a:latin typeface="Georgia"/>
                <a:ea typeface="Georgia"/>
              </a:rPr>
              <a:t>Факты сильнее эпитетов</a:t>
            </a:r>
          </a:p>
        </p:txBody>
      </p:sp>
      <p:sp>
        <p:nvSpPr>
          <p:cNvPr id="3" name="Shape 3"/>
          <p:cNvSpPr/>
          <p:nvPr/>
        </p:nvSpPr>
        <p:spPr>
          <a:xfrm>
            <a:off x="861060" y="1943100"/>
            <a:ext cx="46863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2400" b="1">
                <a:solidFill>
                  <a:srgbClr val="787378"/>
                </a:solidFill>
                <a:latin typeface="Arial"/>
                <a:ea typeface="Arial"/>
              </a:rPr>
              <a:t>ВМЕСТО</a:t>
            </a:r>
          </a:p>
        </p:txBody>
      </p:sp>
      <p:sp>
        <p:nvSpPr>
          <p:cNvPr id="4" name="Shape 4"/>
          <p:cNvSpPr/>
          <p:nvPr/>
        </p:nvSpPr>
        <p:spPr>
          <a:xfrm>
            <a:off x="6172200" y="1943100"/>
            <a:ext cx="5143500" cy="350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2400" b="1">
                <a:solidFill>
                  <a:srgbClr val="642438"/>
                </a:solidFill>
                <a:latin typeface="Arial"/>
                <a:ea typeface="Arial"/>
              </a:rPr>
              <a:t>ПОКАЖИТЕ ДЕЛОМ</a:t>
            </a:r>
          </a:p>
        </p:txBody>
      </p:sp>
      <p:sp>
        <p:nvSpPr>
          <p:cNvPr id="5" name="Shape 5"/>
          <p:cNvSpPr/>
          <p:nvPr/>
        </p:nvSpPr>
        <p:spPr>
          <a:xfrm>
            <a:off x="838200" y="245364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38200" y="2621280"/>
            <a:ext cx="46101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300">
                <a:solidFill>
                  <a:srgbClr val="787378"/>
                </a:solidFill>
                <a:latin typeface="Georgia"/>
                <a:ea typeface="Georgia"/>
              </a:rPr>
              <a:t>Я целеустремлённая</a:t>
            </a:r>
          </a:p>
        </p:txBody>
      </p:sp>
      <p:sp>
        <p:nvSpPr>
          <p:cNvPr id="7" name="Shape 7"/>
          <p:cNvSpPr/>
          <p:nvPr/>
        </p:nvSpPr>
        <p:spPr>
          <a:xfrm>
            <a:off x="6164580" y="2621280"/>
            <a:ext cx="5166360" cy="853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500">
                <a:solidFill>
                  <a:srgbClr val="171516"/>
                </a:solidFill>
                <a:latin typeface="Georgia"/>
                <a:ea typeface="Georgia"/>
              </a:rPr>
              <a:t>Открыла своё дело с нуля</a:t>
            </a:r>
          </a:p>
        </p:txBody>
      </p:sp>
      <p:sp>
        <p:nvSpPr>
          <p:cNvPr id="8" name="Shape 8"/>
          <p:cNvSpPr/>
          <p:nvPr/>
        </p:nvSpPr>
        <p:spPr>
          <a:xfrm>
            <a:off x="838200" y="367284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838200" y="3840480"/>
            <a:ext cx="46101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300">
                <a:solidFill>
                  <a:srgbClr val="787378"/>
                </a:solidFill>
                <a:latin typeface="Georgia"/>
                <a:ea typeface="Georgia"/>
              </a:rPr>
              <a:t>Я творческая</a:t>
            </a:r>
          </a:p>
        </p:txBody>
      </p:sp>
      <p:sp>
        <p:nvSpPr>
          <p:cNvPr id="10" name="Shape 10"/>
          <p:cNvSpPr/>
          <p:nvPr/>
        </p:nvSpPr>
        <p:spPr>
          <a:xfrm>
            <a:off x="6164580" y="3840480"/>
            <a:ext cx="5166360" cy="853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500">
                <a:solidFill>
                  <a:srgbClr val="171516"/>
                </a:solidFill>
                <a:latin typeface="Georgia"/>
                <a:ea typeface="Georgia"/>
              </a:rPr>
              <a:t>Пишу и исполняю песни</a:t>
            </a:r>
          </a:p>
        </p:txBody>
      </p:sp>
      <p:sp>
        <p:nvSpPr>
          <p:cNvPr id="11" name="Shape 11"/>
          <p:cNvSpPr/>
          <p:nvPr/>
        </p:nvSpPr>
        <p:spPr>
          <a:xfrm>
            <a:off x="838200" y="489204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838200" y="5059680"/>
            <a:ext cx="46101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300">
                <a:solidFill>
                  <a:srgbClr val="787378"/>
                </a:solidFill>
                <a:latin typeface="Georgia"/>
                <a:ea typeface="Georgia"/>
              </a:rPr>
              <a:t>Я спортивная</a:t>
            </a:r>
          </a:p>
        </p:txBody>
      </p:sp>
      <p:sp>
        <p:nvSpPr>
          <p:cNvPr id="13" name="Shape 13"/>
          <p:cNvSpPr/>
          <p:nvPr/>
        </p:nvSpPr>
        <p:spPr>
          <a:xfrm>
            <a:off x="6164580" y="5059680"/>
            <a:ext cx="5166360" cy="853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500">
                <a:solidFill>
                  <a:srgbClr val="171516"/>
                </a:solidFill>
                <a:latin typeface="Georgia"/>
                <a:ea typeface="Georgia"/>
              </a:rPr>
              <a:t>Пробежала три полумарафона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400">
                <a:solidFill>
                  <a:srgbClr val="171516"/>
                </a:solidFill>
                <a:latin typeface="Georgia"/>
                <a:ea typeface="Georgia"/>
              </a:rPr>
              <a:t>Структура двух минут</a:t>
            </a:r>
          </a:p>
        </p:txBody>
      </p:sp>
      <p:sp>
        <p:nvSpPr>
          <p:cNvPr id="3" name="Shape 3"/>
          <p:cNvSpPr/>
          <p:nvPr/>
        </p:nvSpPr>
        <p:spPr>
          <a:xfrm>
            <a:off x="7665720" y="1706880"/>
            <a:ext cx="3810000" cy="1333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 marL="0" marR="0" indent="0" lvl="0"/>
            <a:endParaRPr lang="ru-RU"/>
            <a:r>
              <a:rPr lang="ru-RU" sz="15100">
                <a:solidFill>
                  <a:srgbClr val="642438"/>
                </a:solidFill>
                <a:latin typeface="Georgia"/>
                <a:ea typeface="Georgia"/>
              </a:rPr>
              <a:t>02:00</a:t>
            </a:r>
          </a:p>
        </p:txBody>
      </p:sp>
      <p:sp>
        <p:nvSpPr>
          <p:cNvPr id="4" name="Shape 4"/>
          <p:cNvSpPr/>
          <p:nvPr/>
        </p:nvSpPr>
        <p:spPr>
          <a:xfrm>
            <a:off x="815340" y="3093720"/>
            <a:ext cx="10591800" cy="22860"/>
          </a:xfrm>
          <a:prstGeom prst="rect">
            <a:avLst/>
          </a:prstGeom>
          <a:solidFill>
            <a:srgbClr val="171516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853440" y="33909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642438"/>
                </a:solidFill>
                <a:latin typeface="Georgia"/>
                <a:ea typeface="Georgia"/>
              </a:rPr>
              <a:t>00–20</a:t>
            </a:r>
          </a:p>
        </p:txBody>
      </p:sp>
      <p:sp>
        <p:nvSpPr>
          <p:cNvPr id="6" name="Shape 6"/>
          <p:cNvSpPr/>
          <p:nvPr/>
        </p:nvSpPr>
        <p:spPr>
          <a:xfrm>
            <a:off x="2636520" y="339852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800">
                <a:solidFill>
                  <a:srgbClr val="171516"/>
                </a:solidFill>
                <a:latin typeface="Arial"/>
                <a:ea typeface="Arial"/>
              </a:rPr>
              <a:t>Заинтересовать</a:t>
            </a:r>
          </a:p>
        </p:txBody>
      </p:sp>
      <p:sp>
        <p:nvSpPr>
          <p:cNvPr id="7" name="Shape 7"/>
          <p:cNvSpPr/>
          <p:nvPr/>
        </p:nvSpPr>
        <p:spPr>
          <a:xfrm>
            <a:off x="853440" y="398526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642438"/>
                </a:solidFill>
                <a:latin typeface="Georgia"/>
                <a:ea typeface="Georgia"/>
              </a:rPr>
              <a:t>20–45</a:t>
            </a:r>
          </a:p>
        </p:txBody>
      </p:sp>
      <p:sp>
        <p:nvSpPr>
          <p:cNvPr id="8" name="Shape 8"/>
          <p:cNvSpPr/>
          <p:nvPr/>
        </p:nvSpPr>
        <p:spPr>
          <a:xfrm>
            <a:off x="2636520" y="399288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800">
                <a:solidFill>
                  <a:srgbClr val="171516"/>
                </a:solidFill>
                <a:latin typeface="Arial"/>
                <a:ea typeface="Arial"/>
              </a:rPr>
              <a:t>Кто вы: имя, возраст, дело</a:t>
            </a:r>
          </a:p>
        </p:txBody>
      </p:sp>
      <p:sp>
        <p:nvSpPr>
          <p:cNvPr id="9" name="Shape 9"/>
          <p:cNvSpPr/>
          <p:nvPr/>
        </p:nvSpPr>
        <p:spPr>
          <a:xfrm>
            <a:off x="853440" y="457962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642438"/>
                </a:solidFill>
                <a:latin typeface="Georgia"/>
                <a:ea typeface="Georgia"/>
              </a:rPr>
              <a:t>45–90</a:t>
            </a:r>
          </a:p>
        </p:txBody>
      </p:sp>
      <p:sp>
        <p:nvSpPr>
          <p:cNvPr id="10" name="Shape 10"/>
          <p:cNvSpPr/>
          <p:nvPr/>
        </p:nvSpPr>
        <p:spPr>
          <a:xfrm>
            <a:off x="2636520" y="458724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800">
                <a:solidFill>
                  <a:srgbClr val="171516"/>
                </a:solidFill>
                <a:latin typeface="Arial"/>
                <a:ea typeface="Arial"/>
              </a:rPr>
              <a:t>Уникальность и достижения</a:t>
            </a:r>
          </a:p>
        </p:txBody>
      </p:sp>
      <p:sp>
        <p:nvSpPr>
          <p:cNvPr id="11" name="Shape 11"/>
          <p:cNvSpPr/>
          <p:nvPr/>
        </p:nvSpPr>
        <p:spPr>
          <a:xfrm>
            <a:off x="853440" y="517398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642438"/>
                </a:solidFill>
                <a:latin typeface="Georgia"/>
                <a:ea typeface="Georgia"/>
              </a:rPr>
              <a:t>90–110</a:t>
            </a:r>
          </a:p>
        </p:txBody>
      </p:sp>
      <p:sp>
        <p:nvSpPr>
          <p:cNvPr id="12" name="Shape 12"/>
          <p:cNvSpPr/>
          <p:nvPr/>
        </p:nvSpPr>
        <p:spPr>
          <a:xfrm>
            <a:off x="2636520" y="518160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800">
                <a:solidFill>
                  <a:srgbClr val="171516"/>
                </a:solidFill>
                <a:latin typeface="Arial"/>
                <a:ea typeface="Arial"/>
              </a:rPr>
              <a:t>Ценность и цель участия</a:t>
            </a:r>
          </a:p>
        </p:txBody>
      </p:sp>
      <p:sp>
        <p:nvSpPr>
          <p:cNvPr id="13" name="Shape 13"/>
          <p:cNvSpPr/>
          <p:nvPr/>
        </p:nvSpPr>
        <p:spPr>
          <a:xfrm>
            <a:off x="853440" y="576834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642438"/>
                </a:solidFill>
                <a:latin typeface="Georgia"/>
                <a:ea typeface="Georgia"/>
              </a:rPr>
              <a:t>110–120</a:t>
            </a:r>
          </a:p>
        </p:txBody>
      </p:sp>
      <p:sp>
        <p:nvSpPr>
          <p:cNvPr id="14" name="Shape 14"/>
          <p:cNvSpPr/>
          <p:nvPr/>
        </p:nvSpPr>
        <p:spPr>
          <a:xfrm>
            <a:off x="2636520" y="577596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800">
                <a:solidFill>
                  <a:srgbClr val="171516"/>
                </a:solidFill>
                <a:latin typeface="Arial"/>
                <a:ea typeface="Arial"/>
              </a:rPr>
              <a:t>Запоминающийся финал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500">
                <a:solidFill>
                  <a:srgbClr val="171516"/>
                </a:solidFill>
                <a:latin typeface="Georgia"/>
                <a:ea typeface="Georgia"/>
              </a:rPr>
              <a:t>Голос: четыре настройки</a:t>
            </a:r>
          </a:p>
        </p:txBody>
      </p:sp>
      <p:sp>
        <p:nvSpPr>
          <p:cNvPr id="3" name="Shape 3"/>
          <p:cNvSpPr/>
          <p:nvPr/>
        </p:nvSpPr>
        <p:spPr>
          <a:xfrm>
            <a:off x="853440" y="2407920"/>
            <a:ext cx="4762500" cy="30480"/>
          </a:xfrm>
          <a:prstGeom prst="rect">
            <a:avLst/>
          </a:prstGeom>
          <a:solidFill>
            <a:srgbClr val="642438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853440" y="2590800"/>
            <a:ext cx="48768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400" b="1">
                <a:solidFill>
                  <a:srgbClr val="171516"/>
                </a:solidFill>
                <a:latin typeface="Arial"/>
                <a:ea typeface="Arial"/>
              </a:rPr>
              <a:t>ВЫСОТА</a:t>
            </a:r>
          </a:p>
        </p:txBody>
      </p:sp>
      <p:sp>
        <p:nvSpPr>
          <p:cNvPr id="5" name="Shape 5"/>
          <p:cNvSpPr/>
          <p:nvPr/>
        </p:nvSpPr>
        <p:spPr>
          <a:xfrm>
            <a:off x="853440" y="3276600"/>
            <a:ext cx="48387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200">
                <a:solidFill>
                  <a:srgbClr val="787378"/>
                </a:solidFill>
                <a:latin typeface="Arial"/>
                <a:ea typeface="Arial"/>
              </a:rPr>
              <a:t>Ваш естественный диапазон</a:t>
            </a:r>
          </a:p>
        </p:txBody>
      </p:sp>
      <p:sp>
        <p:nvSpPr>
          <p:cNvPr id="6" name="Shape 6"/>
          <p:cNvSpPr/>
          <p:nvPr/>
        </p:nvSpPr>
        <p:spPr>
          <a:xfrm>
            <a:off x="6393180" y="2407920"/>
            <a:ext cx="47625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6393180" y="2590800"/>
            <a:ext cx="48768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400" b="1">
                <a:solidFill>
                  <a:srgbClr val="171516"/>
                </a:solidFill>
                <a:latin typeface="Arial"/>
                <a:ea typeface="Arial"/>
              </a:rPr>
              <a:t>ТЕМБР</a:t>
            </a:r>
          </a:p>
        </p:txBody>
      </p:sp>
      <p:sp>
        <p:nvSpPr>
          <p:cNvPr id="8" name="Shape 8"/>
          <p:cNvSpPr/>
          <p:nvPr/>
        </p:nvSpPr>
        <p:spPr>
          <a:xfrm>
            <a:off x="6393180" y="3276600"/>
            <a:ext cx="48387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200">
                <a:solidFill>
                  <a:srgbClr val="787378"/>
                </a:solidFill>
                <a:latin typeface="Arial"/>
                <a:ea typeface="Arial"/>
              </a:rPr>
              <a:t>Свободное, объёмное звучание</a:t>
            </a:r>
          </a:p>
        </p:txBody>
      </p:sp>
      <p:sp>
        <p:nvSpPr>
          <p:cNvPr id="9" name="Shape 9"/>
          <p:cNvSpPr/>
          <p:nvPr/>
        </p:nvSpPr>
        <p:spPr>
          <a:xfrm>
            <a:off x="853440" y="4267200"/>
            <a:ext cx="47625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853440" y="4450080"/>
            <a:ext cx="48768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400" b="1">
                <a:solidFill>
                  <a:srgbClr val="171516"/>
                </a:solidFill>
                <a:latin typeface="Arial"/>
                <a:ea typeface="Arial"/>
              </a:rPr>
              <a:t>ГРОМКОСТЬ</a:t>
            </a:r>
          </a:p>
        </p:txBody>
      </p:sp>
      <p:sp>
        <p:nvSpPr>
          <p:cNvPr id="11" name="Shape 11"/>
          <p:cNvSpPr/>
          <p:nvPr/>
        </p:nvSpPr>
        <p:spPr>
          <a:xfrm>
            <a:off x="853440" y="5135880"/>
            <a:ext cx="48387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200">
                <a:solidFill>
                  <a:srgbClr val="787378"/>
                </a:solidFill>
                <a:latin typeface="Arial"/>
                <a:ea typeface="Arial"/>
              </a:rPr>
              <a:t>Слышно без крика</a:t>
            </a:r>
          </a:p>
        </p:txBody>
      </p:sp>
      <p:sp>
        <p:nvSpPr>
          <p:cNvPr id="12" name="Shape 12"/>
          <p:cNvSpPr/>
          <p:nvPr/>
        </p:nvSpPr>
        <p:spPr>
          <a:xfrm>
            <a:off x="6393180" y="4267200"/>
            <a:ext cx="47625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393180" y="4450080"/>
            <a:ext cx="4876800" cy="6477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400" b="1">
                <a:solidFill>
                  <a:srgbClr val="171516"/>
                </a:solidFill>
                <a:latin typeface="Arial"/>
                <a:ea typeface="Arial"/>
              </a:rPr>
              <a:t>ДЫХАНИЕ</a:t>
            </a:r>
          </a:p>
        </p:txBody>
      </p:sp>
      <p:sp>
        <p:nvSpPr>
          <p:cNvPr id="14" name="Shape 14"/>
          <p:cNvSpPr/>
          <p:nvPr/>
        </p:nvSpPr>
        <p:spPr>
          <a:xfrm>
            <a:off x="6393180" y="5135880"/>
            <a:ext cx="48387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200">
                <a:solidFill>
                  <a:srgbClr val="787378"/>
                </a:solidFill>
                <a:latin typeface="Arial"/>
                <a:ea typeface="Arial"/>
              </a:rPr>
              <a:t>Устойчивый звук на выдохе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8300">
                <a:solidFill>
                  <a:srgbClr val="171516"/>
                </a:solidFill>
                <a:latin typeface="Georgia"/>
                <a:ea typeface="Georgia"/>
              </a:rPr>
              <a:t>Темп и паузы</a:t>
            </a:r>
          </a:p>
        </p:txBody>
      </p:sp>
      <p:sp>
        <p:nvSpPr>
          <p:cNvPr id="3" name="Shape 3"/>
          <p:cNvSpPr/>
          <p:nvPr/>
        </p:nvSpPr>
        <p:spPr>
          <a:xfrm>
            <a:off x="838200" y="2438400"/>
            <a:ext cx="5181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100">
                <a:solidFill>
                  <a:srgbClr val="171516"/>
                </a:solidFill>
                <a:latin typeface="Georgia"/>
                <a:ea typeface="Georgia"/>
              </a:rPr>
              <a:t>БЫСТРЕЕ</a:t>
            </a:r>
          </a:p>
        </p:txBody>
      </p:sp>
      <p:sp>
        <p:nvSpPr>
          <p:cNvPr id="4" name="Shape 4"/>
          <p:cNvSpPr/>
          <p:nvPr/>
        </p:nvSpPr>
        <p:spPr>
          <a:xfrm>
            <a:off x="6187440" y="2514600"/>
            <a:ext cx="502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500">
                <a:solidFill>
                  <a:srgbClr val="787378"/>
                </a:solidFill>
                <a:latin typeface="Arial"/>
                <a:ea typeface="Arial"/>
              </a:rPr>
              <a:t>Драйв · Энергия</a:t>
            </a:r>
          </a:p>
        </p:txBody>
      </p:sp>
      <p:sp>
        <p:nvSpPr>
          <p:cNvPr id="5" name="Shape 5"/>
          <p:cNvSpPr/>
          <p:nvPr/>
        </p:nvSpPr>
        <p:spPr>
          <a:xfrm>
            <a:off x="838200" y="3368040"/>
            <a:ext cx="105537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38200" y="3695700"/>
            <a:ext cx="5181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100">
                <a:solidFill>
                  <a:srgbClr val="171516"/>
                </a:solidFill>
                <a:latin typeface="Georgia"/>
                <a:ea typeface="Georgia"/>
              </a:rPr>
              <a:t>МЕДЛЕННЕЕ</a:t>
            </a:r>
          </a:p>
        </p:txBody>
      </p:sp>
      <p:sp>
        <p:nvSpPr>
          <p:cNvPr id="7" name="Shape 7"/>
          <p:cNvSpPr/>
          <p:nvPr/>
        </p:nvSpPr>
        <p:spPr>
          <a:xfrm>
            <a:off x="6187440" y="3771900"/>
            <a:ext cx="502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500">
                <a:solidFill>
                  <a:srgbClr val="787378"/>
                </a:solidFill>
                <a:latin typeface="Arial"/>
                <a:ea typeface="Arial"/>
              </a:rPr>
              <a:t>Вес · Значимость</a:t>
            </a:r>
          </a:p>
        </p:txBody>
      </p:sp>
      <p:sp>
        <p:nvSpPr>
          <p:cNvPr id="8" name="Shape 8"/>
          <p:cNvSpPr/>
          <p:nvPr/>
        </p:nvSpPr>
        <p:spPr>
          <a:xfrm>
            <a:off x="838200" y="4625340"/>
            <a:ext cx="105537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838200" y="4953000"/>
            <a:ext cx="51816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100">
                <a:solidFill>
                  <a:srgbClr val="642438"/>
                </a:solidFill>
                <a:latin typeface="Georgia"/>
                <a:ea typeface="Georgia"/>
              </a:rPr>
              <a:t>ПАУЗА</a:t>
            </a:r>
          </a:p>
        </p:txBody>
      </p:sp>
      <p:sp>
        <p:nvSpPr>
          <p:cNvPr id="10" name="Shape 10"/>
          <p:cNvSpPr/>
          <p:nvPr/>
        </p:nvSpPr>
        <p:spPr>
          <a:xfrm>
            <a:off x="6187440" y="5029200"/>
            <a:ext cx="50292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500">
                <a:solidFill>
                  <a:srgbClr val="787378"/>
                </a:solidFill>
                <a:latin typeface="Arial"/>
                <a:ea typeface="Arial"/>
              </a:rPr>
              <a:t>Акцент · Внимание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700">
                <a:solidFill>
                  <a:srgbClr val="171516"/>
                </a:solidFill>
                <a:latin typeface="Georgia"/>
                <a:ea typeface="Georgia"/>
              </a:rPr>
              <a:t>Интонация меняет смысл</a:t>
            </a:r>
          </a:p>
        </p:txBody>
      </p:sp>
      <p:sp>
        <p:nvSpPr>
          <p:cNvPr id="3" name="Shape 3"/>
          <p:cNvSpPr/>
          <p:nvPr/>
        </p:nvSpPr>
        <p:spPr>
          <a:xfrm>
            <a:off x="830580" y="1844040"/>
            <a:ext cx="92964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2500" b="1">
                <a:solidFill>
                  <a:srgbClr val="642438"/>
                </a:solidFill>
                <a:latin typeface="Arial"/>
                <a:ea typeface="Arial"/>
              </a:rPr>
              <a:t>ЛОГИЧЕСКОЕ УДАРЕНИЕ</a:t>
            </a:r>
          </a:p>
        </p:txBody>
      </p:sp>
      <p:sp>
        <p:nvSpPr>
          <p:cNvPr id="4" name="Shape 4"/>
          <p:cNvSpPr/>
          <p:nvPr/>
        </p:nvSpPr>
        <p:spPr>
          <a:xfrm>
            <a:off x="845820" y="2682240"/>
            <a:ext cx="10439400" cy="9067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200" b="1">
                <a:solidFill>
                  <a:srgbClr val="642438"/>
                </a:solidFill>
                <a:latin typeface="Georgia"/>
                <a:ea typeface="Georgia"/>
              </a:rPr>
              <a:t>Я</a:t>
            </a:r>
            <a:r>
              <a:rPr lang="ru-RU" sz="6200">
                <a:solidFill>
                  <a:srgbClr val="171516"/>
                </a:solidFill>
                <a:latin typeface="Georgia"/>
                <a:ea typeface="Georgia"/>
              </a:rPr>
              <a:t> достойна этой короны</a:t>
            </a:r>
          </a:p>
        </p:txBody>
      </p:sp>
      <p:sp>
        <p:nvSpPr>
          <p:cNvPr id="5" name="Shape 5"/>
          <p:cNvSpPr/>
          <p:nvPr/>
        </p:nvSpPr>
        <p:spPr>
          <a:xfrm>
            <a:off x="822960" y="354330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45820" y="3787140"/>
            <a:ext cx="10439400" cy="9067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200">
                <a:solidFill>
                  <a:srgbClr val="171516"/>
                </a:solidFill>
                <a:latin typeface="Georgia"/>
                <a:ea typeface="Georgia"/>
              </a:rPr>
              <a:t>Я </a:t>
            </a:r>
            <a:r>
              <a:rPr lang="ru-RU" sz="6200" b="1">
                <a:solidFill>
                  <a:srgbClr val="642438"/>
                </a:solidFill>
                <a:latin typeface="Georgia"/>
                <a:ea typeface="Georgia"/>
              </a:rPr>
              <a:t>достойна</a:t>
            </a:r>
            <a:r>
              <a:rPr lang="ru-RU" sz="6200">
                <a:solidFill>
                  <a:srgbClr val="171516"/>
                </a:solidFill>
                <a:latin typeface="Georgia"/>
                <a:ea typeface="Georgia"/>
              </a:rPr>
              <a:t> этой короны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464820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845820" y="4892040"/>
            <a:ext cx="10439400" cy="9067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200">
                <a:solidFill>
                  <a:srgbClr val="171516"/>
                </a:solidFill>
                <a:latin typeface="Georgia"/>
                <a:ea typeface="Georgia"/>
              </a:rPr>
              <a:t>Я достойна </a:t>
            </a:r>
            <a:r>
              <a:rPr lang="ru-RU" sz="6200" b="1">
                <a:solidFill>
                  <a:srgbClr val="642438"/>
                </a:solidFill>
                <a:latin typeface="Georgia"/>
                <a:ea typeface="Georgia"/>
              </a:rPr>
              <a:t>этой</a:t>
            </a:r>
            <a:r>
              <a:rPr lang="ru-RU" sz="6200">
                <a:solidFill>
                  <a:srgbClr val="171516"/>
                </a:solidFill>
                <a:latin typeface="Georgia"/>
                <a:ea typeface="Georgia"/>
              </a:rPr>
              <a:t> короны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22960" y="754380"/>
            <a:ext cx="105918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8300">
                <a:solidFill>
                  <a:srgbClr val="171516"/>
                </a:solidFill>
                <a:latin typeface="Georgia"/>
                <a:ea typeface="Georgia"/>
              </a:rPr>
              <a:t>Чистая речь —</a:t>
            </a:r>
          </a:p>
        </p:txBody>
      </p:sp>
      <p:sp>
        <p:nvSpPr>
          <p:cNvPr id="3" name="Shape 3"/>
          <p:cNvSpPr/>
          <p:nvPr/>
        </p:nvSpPr>
        <p:spPr>
          <a:xfrm>
            <a:off x="822960" y="1539240"/>
            <a:ext cx="105918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8300">
                <a:solidFill>
                  <a:srgbClr val="171516"/>
                </a:solidFill>
                <a:latin typeface="Georgia"/>
                <a:ea typeface="Georgia"/>
              </a:rPr>
              <a:t>слышная речь</a:t>
            </a:r>
          </a:p>
        </p:txBody>
      </p:sp>
      <p:sp>
        <p:nvSpPr>
          <p:cNvPr id="4" name="Shape 4"/>
          <p:cNvSpPr/>
          <p:nvPr/>
        </p:nvSpPr>
        <p:spPr>
          <a:xfrm>
            <a:off x="838200" y="2644140"/>
            <a:ext cx="104698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853440" y="281178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300" b="1">
                <a:solidFill>
                  <a:srgbClr val="642438"/>
                </a:solidFill>
                <a:latin typeface="Arial"/>
                <a:ea typeface="Arial"/>
              </a:rPr>
              <a:t>ЧЁТКО</a:t>
            </a:r>
          </a:p>
        </p:txBody>
      </p:sp>
      <p:sp>
        <p:nvSpPr>
          <p:cNvPr id="6" name="Shape 6"/>
          <p:cNvSpPr/>
          <p:nvPr/>
        </p:nvSpPr>
        <p:spPr>
          <a:xfrm>
            <a:off x="4015740" y="2827020"/>
            <a:ext cx="73914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171516"/>
                </a:solidFill>
                <a:latin typeface="Arial"/>
                <a:ea typeface="Arial"/>
              </a:rPr>
              <a:t>Согласные и окончания</a:t>
            </a:r>
          </a:p>
        </p:txBody>
      </p:sp>
      <p:sp>
        <p:nvSpPr>
          <p:cNvPr id="7" name="Shape 7"/>
          <p:cNvSpPr/>
          <p:nvPr/>
        </p:nvSpPr>
        <p:spPr>
          <a:xfrm>
            <a:off x="838200" y="3558540"/>
            <a:ext cx="104698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853440" y="372618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300" b="1">
                <a:solidFill>
                  <a:srgbClr val="171516"/>
                </a:solidFill>
                <a:latin typeface="Arial"/>
                <a:ea typeface="Arial"/>
              </a:rPr>
              <a:t>ЧИСТО</a:t>
            </a:r>
          </a:p>
        </p:txBody>
      </p:sp>
      <p:sp>
        <p:nvSpPr>
          <p:cNvPr id="9" name="Shape 9"/>
          <p:cNvSpPr/>
          <p:nvPr/>
        </p:nvSpPr>
        <p:spPr>
          <a:xfrm>
            <a:off x="4015740" y="3741420"/>
            <a:ext cx="73914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171516"/>
                </a:solidFill>
                <a:latin typeface="Arial"/>
                <a:ea typeface="Arial"/>
              </a:rPr>
              <a:t>Без «эээ» и «как бы»</a:t>
            </a:r>
          </a:p>
        </p:txBody>
      </p:sp>
      <p:sp>
        <p:nvSpPr>
          <p:cNvPr id="10" name="Shape 10"/>
          <p:cNvSpPr/>
          <p:nvPr/>
        </p:nvSpPr>
        <p:spPr>
          <a:xfrm>
            <a:off x="838200" y="4472940"/>
            <a:ext cx="104698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853440" y="464058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300" b="1">
                <a:solidFill>
                  <a:srgbClr val="171516"/>
                </a:solidFill>
                <a:latin typeface="Arial"/>
                <a:ea typeface="Arial"/>
              </a:rPr>
              <a:t>СВОБОДНО</a:t>
            </a:r>
          </a:p>
        </p:txBody>
      </p:sp>
      <p:sp>
        <p:nvSpPr>
          <p:cNvPr id="12" name="Shape 12"/>
          <p:cNvSpPr/>
          <p:nvPr/>
        </p:nvSpPr>
        <p:spPr>
          <a:xfrm>
            <a:off x="4015740" y="4655820"/>
            <a:ext cx="73914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171516"/>
                </a:solidFill>
                <a:latin typeface="Arial"/>
                <a:ea typeface="Arial"/>
              </a:rPr>
              <a:t>Работа артикуляции</a:t>
            </a:r>
          </a:p>
        </p:txBody>
      </p:sp>
      <p:sp>
        <p:nvSpPr>
          <p:cNvPr id="13" name="Shape 13"/>
          <p:cNvSpPr/>
          <p:nvPr/>
        </p:nvSpPr>
        <p:spPr>
          <a:xfrm>
            <a:off x="838200" y="5387340"/>
            <a:ext cx="104698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53440" y="5554980"/>
            <a:ext cx="266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300" b="1">
                <a:solidFill>
                  <a:srgbClr val="171516"/>
                </a:solidFill>
                <a:latin typeface="Arial"/>
                <a:ea typeface="Arial"/>
              </a:rPr>
              <a:t>СЛЫШНО</a:t>
            </a:r>
          </a:p>
        </p:txBody>
      </p:sp>
      <p:sp>
        <p:nvSpPr>
          <p:cNvPr id="15" name="Shape 15"/>
          <p:cNvSpPr/>
          <p:nvPr/>
        </p:nvSpPr>
        <p:spPr>
          <a:xfrm>
            <a:off x="4015740" y="5570220"/>
            <a:ext cx="7391400" cy="5181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700">
                <a:solidFill>
                  <a:srgbClr val="171516"/>
                </a:solidFill>
                <a:latin typeface="Arial"/>
                <a:ea typeface="Arial"/>
              </a:rPr>
              <a:t>Постоянная дистанция до микрофона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944880"/>
            <a:ext cx="30480" cy="4895377560"/>
          </a:xfrm>
          <a:prstGeom prst="rect">
            <a:avLst/>
          </a:prstGeom>
          <a:solidFill>
            <a:srgbClr val="64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1104900" y="11049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000" b="1">
                <a:solidFill>
                  <a:srgbClr val="642438"/>
                </a:solidFill>
                <a:latin typeface="Arial"/>
                <a:ea typeface="Arial"/>
              </a:rPr>
              <a:t>ЧАСТЬ II</a:t>
            </a:r>
          </a:p>
        </p:txBody>
      </p:sp>
      <p:sp>
        <p:nvSpPr>
          <p:cNvPr id="4" name="Shape 4"/>
          <p:cNvSpPr/>
          <p:nvPr/>
        </p:nvSpPr>
        <p:spPr>
          <a:xfrm>
            <a:off x="1104900" y="2392680"/>
            <a:ext cx="10439400" cy="1264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10200">
                <a:solidFill>
                  <a:srgbClr val="171516"/>
                </a:solidFill>
                <a:latin typeface="Georgia"/>
                <a:ea typeface="Georgia"/>
              </a:rPr>
              <a:t>НЕВЕРБАЛЬНЫЕ</a:t>
            </a:r>
          </a:p>
        </p:txBody>
      </p:sp>
      <p:sp>
        <p:nvSpPr>
          <p:cNvPr id="5" name="Shape 5"/>
          <p:cNvSpPr/>
          <p:nvPr/>
        </p:nvSpPr>
        <p:spPr>
          <a:xfrm>
            <a:off x="1104900" y="3733800"/>
            <a:ext cx="102870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13500">
                <a:solidFill>
                  <a:srgbClr val="171516"/>
                </a:solidFill>
                <a:latin typeface="Georgia"/>
                <a:ea typeface="Georgia"/>
              </a:rPr>
              <a:t>СИГНАЛЫ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100">
                <a:solidFill>
                  <a:srgbClr val="171516"/>
                </a:solidFill>
                <a:latin typeface="Georgia"/>
                <a:ea typeface="Georgia"/>
              </a:rPr>
              <a:t>Выступление начинается с шага</a:t>
            </a:r>
          </a:p>
        </p:txBody>
      </p:sp>
      <p:sp>
        <p:nvSpPr>
          <p:cNvPr id="3" name="Shape 3"/>
          <p:cNvSpPr/>
          <p:nvPr/>
        </p:nvSpPr>
        <p:spPr>
          <a:xfrm>
            <a:off x="845820" y="2804160"/>
            <a:ext cx="2026920" cy="670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100">
                <a:solidFill>
                  <a:srgbClr val="171516"/>
                </a:solidFill>
                <a:latin typeface="Georgia"/>
                <a:ea typeface="Georgia"/>
              </a:rPr>
              <a:t>ВЫХОД</a:t>
            </a:r>
          </a:p>
        </p:txBody>
      </p:sp>
      <p:sp>
        <p:nvSpPr>
          <p:cNvPr id="4" name="Shape 4"/>
          <p:cNvSpPr/>
          <p:nvPr/>
        </p:nvSpPr>
        <p:spPr>
          <a:xfrm>
            <a:off x="2712720" y="2926080"/>
            <a:ext cx="487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100">
                <a:solidFill>
                  <a:srgbClr val="787378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5" name="Shape 5"/>
          <p:cNvSpPr/>
          <p:nvPr/>
        </p:nvSpPr>
        <p:spPr>
          <a:xfrm>
            <a:off x="3009900" y="2804160"/>
            <a:ext cx="2026920" cy="670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100">
                <a:solidFill>
                  <a:srgbClr val="171516"/>
                </a:solidFill>
                <a:latin typeface="Georgia"/>
                <a:ea typeface="Georgia"/>
              </a:rPr>
              <a:t>СТОП</a:t>
            </a:r>
          </a:p>
        </p:txBody>
      </p:sp>
      <p:sp>
        <p:nvSpPr>
          <p:cNvPr id="6" name="Shape 6"/>
          <p:cNvSpPr/>
          <p:nvPr/>
        </p:nvSpPr>
        <p:spPr>
          <a:xfrm>
            <a:off x="4876800" y="2926080"/>
            <a:ext cx="487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100">
                <a:solidFill>
                  <a:srgbClr val="787378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7" name="Shape 7"/>
          <p:cNvSpPr/>
          <p:nvPr/>
        </p:nvSpPr>
        <p:spPr>
          <a:xfrm>
            <a:off x="5173980" y="2804160"/>
            <a:ext cx="2026920" cy="670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800">
                <a:solidFill>
                  <a:srgbClr val="642438"/>
                </a:solidFill>
                <a:latin typeface="Georgia"/>
                <a:ea typeface="Georgia"/>
              </a:rPr>
              <a:t>ВЗГЛЯД</a:t>
            </a:r>
          </a:p>
        </p:txBody>
      </p:sp>
      <p:sp>
        <p:nvSpPr>
          <p:cNvPr id="8" name="Shape 8"/>
          <p:cNvSpPr/>
          <p:nvPr/>
        </p:nvSpPr>
        <p:spPr>
          <a:xfrm>
            <a:off x="7040880" y="2926080"/>
            <a:ext cx="487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100">
                <a:solidFill>
                  <a:srgbClr val="787378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9" name="Shape 9"/>
          <p:cNvSpPr/>
          <p:nvPr/>
        </p:nvSpPr>
        <p:spPr>
          <a:xfrm>
            <a:off x="7338060" y="2804160"/>
            <a:ext cx="2026920" cy="670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100">
                <a:solidFill>
                  <a:srgbClr val="171516"/>
                </a:solidFill>
                <a:latin typeface="Georgia"/>
                <a:ea typeface="Georgia"/>
              </a:rPr>
              <a:t>ПАУЗА</a:t>
            </a:r>
          </a:p>
        </p:txBody>
      </p:sp>
      <p:sp>
        <p:nvSpPr>
          <p:cNvPr id="10" name="Shape 10"/>
          <p:cNvSpPr/>
          <p:nvPr/>
        </p:nvSpPr>
        <p:spPr>
          <a:xfrm>
            <a:off x="9204960" y="2926080"/>
            <a:ext cx="4876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100">
                <a:solidFill>
                  <a:srgbClr val="787378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11" name="Shape 11"/>
          <p:cNvSpPr/>
          <p:nvPr/>
        </p:nvSpPr>
        <p:spPr>
          <a:xfrm>
            <a:off x="9502140" y="2804160"/>
            <a:ext cx="2026920" cy="670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100">
                <a:solidFill>
                  <a:srgbClr val="171516"/>
                </a:solidFill>
                <a:latin typeface="Georgia"/>
                <a:ea typeface="Georgia"/>
              </a:rPr>
              <a:t>РЕЧЬ</a:t>
            </a:r>
          </a:p>
        </p:txBody>
      </p:sp>
      <p:sp>
        <p:nvSpPr>
          <p:cNvPr id="12" name="Shape 12"/>
          <p:cNvSpPr/>
          <p:nvPr/>
        </p:nvSpPr>
        <p:spPr>
          <a:xfrm>
            <a:off x="861060" y="4305300"/>
            <a:ext cx="10515600" cy="2286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845820" y="4808220"/>
            <a:ext cx="104775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300">
                <a:solidFill>
                  <a:srgbClr val="787378"/>
                </a:solidFill>
                <a:latin typeface="Arial"/>
                <a:ea typeface="Arial"/>
              </a:rPr>
              <a:t>Финал: последняя фраза → пауза → спокойный уход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8300">
                <a:solidFill>
                  <a:srgbClr val="171516"/>
                </a:solidFill>
                <a:latin typeface="Georgia"/>
                <a:ea typeface="Georgia"/>
              </a:rPr>
              <a:t>Осанка и жесты</a:t>
            </a:r>
          </a:p>
        </p:txBody>
      </p:sp>
      <p:sp>
        <p:nvSpPr>
          <p:cNvPr id="3" name="Shape 3"/>
          <p:cNvSpPr/>
          <p:nvPr/>
        </p:nvSpPr>
        <p:spPr>
          <a:xfrm>
            <a:off x="822960" y="2286000"/>
            <a:ext cx="1056132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838200" y="2545080"/>
            <a:ext cx="2438400" cy="5562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700" b="1">
                <a:solidFill>
                  <a:srgbClr val="642438"/>
                </a:solidFill>
                <a:latin typeface="Arial"/>
                <a:ea typeface="Arial"/>
              </a:rPr>
              <a:t>ОПОРА</a:t>
            </a:r>
          </a:p>
        </p:txBody>
      </p:sp>
      <p:sp>
        <p:nvSpPr>
          <p:cNvPr id="5" name="Shape 5"/>
          <p:cNvSpPr/>
          <p:nvPr/>
        </p:nvSpPr>
        <p:spPr>
          <a:xfrm>
            <a:off x="3619500" y="2537460"/>
            <a:ext cx="77343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600">
                <a:solidFill>
                  <a:srgbClr val="171516"/>
                </a:solidFill>
                <a:latin typeface="Arial"/>
                <a:ea typeface="Arial"/>
              </a:rPr>
              <a:t>Стопы устойчиво   ·   Колени свободны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3360420"/>
            <a:ext cx="1056132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838200" y="3619500"/>
            <a:ext cx="2438400" cy="5562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700" b="1">
                <a:solidFill>
                  <a:srgbClr val="171516"/>
                </a:solidFill>
                <a:latin typeface="Arial"/>
                <a:ea typeface="Arial"/>
              </a:rPr>
              <a:t>КОРПУС</a:t>
            </a:r>
          </a:p>
        </p:txBody>
      </p:sp>
      <p:sp>
        <p:nvSpPr>
          <p:cNvPr id="8" name="Shape 8"/>
          <p:cNvSpPr/>
          <p:nvPr/>
        </p:nvSpPr>
        <p:spPr>
          <a:xfrm>
            <a:off x="3619500" y="3611880"/>
            <a:ext cx="77343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600">
                <a:solidFill>
                  <a:srgbClr val="171516"/>
                </a:solidFill>
                <a:latin typeface="Arial"/>
                <a:ea typeface="Arial"/>
              </a:rPr>
              <a:t>Плечи не зажаты   ·   Голова прямо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4434840"/>
            <a:ext cx="1056132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838200" y="4693920"/>
            <a:ext cx="2438400" cy="5562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700" b="1">
                <a:solidFill>
                  <a:srgbClr val="171516"/>
                </a:solidFill>
                <a:latin typeface="Arial"/>
                <a:ea typeface="Arial"/>
              </a:rPr>
              <a:t>РУКИ</a:t>
            </a:r>
          </a:p>
        </p:txBody>
      </p:sp>
      <p:sp>
        <p:nvSpPr>
          <p:cNvPr id="11" name="Shape 11"/>
          <p:cNvSpPr/>
          <p:nvPr/>
        </p:nvSpPr>
        <p:spPr>
          <a:xfrm>
            <a:off x="3619500" y="4686300"/>
            <a:ext cx="77343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600">
                <a:solidFill>
                  <a:srgbClr val="171516"/>
                </a:solidFill>
                <a:latin typeface="Arial"/>
                <a:ea typeface="Arial"/>
              </a:rPr>
              <a:t>Жест работает на смысл</a:t>
            </a:r>
          </a:p>
        </p:txBody>
      </p:sp>
      <p:sp>
        <p:nvSpPr>
          <p:cNvPr id="12" name="Shape 12"/>
          <p:cNvSpPr/>
          <p:nvPr/>
        </p:nvSpPr>
        <p:spPr>
          <a:xfrm>
            <a:off x="861060" y="5836920"/>
            <a:ext cx="10363200" cy="487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000">
                <a:solidFill>
                  <a:srgbClr val="787378"/>
                </a:solidFill>
                <a:latin typeface="Georgia"/>
                <a:ea typeface="Georgia"/>
              </a:rPr>
              <a:t>Спокойная неподвижность тоже может быть выразительной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8300">
                <a:solidFill>
                  <a:srgbClr val="171516"/>
                </a:solidFill>
                <a:latin typeface="Georgia"/>
                <a:ea typeface="Georgia"/>
              </a:rPr>
              <a:t>Взгляд и мимика</a:t>
            </a:r>
          </a:p>
        </p:txBody>
      </p:sp>
      <p:sp>
        <p:nvSpPr>
          <p:cNvPr id="3" name="Shape 3"/>
          <p:cNvSpPr/>
          <p:nvPr/>
        </p:nvSpPr>
        <p:spPr>
          <a:xfrm>
            <a:off x="830580" y="2072640"/>
            <a:ext cx="8991600" cy="441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2800" b="1">
                <a:solidFill>
                  <a:srgbClr val="642438"/>
                </a:solidFill>
                <a:latin typeface="Arial"/>
                <a:ea typeface="Arial"/>
              </a:rPr>
              <a:t>ТРИ СЕКТОРА ЗАЛА</a:t>
            </a:r>
          </a:p>
        </p:txBody>
      </p:sp>
      <p:sp>
        <p:nvSpPr>
          <p:cNvPr id="4" name="Shape 4"/>
          <p:cNvSpPr/>
          <p:nvPr/>
        </p:nvSpPr>
        <p:spPr>
          <a:xfrm>
            <a:off x="876300" y="30327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marR="0" indent="0" lvl="0"/>
            <a:endParaRPr lang="ru-RU"/>
            <a:r>
              <a:rPr lang="ru-RU" sz="6700">
                <a:solidFill>
                  <a:srgbClr val="171516"/>
                </a:solidFill>
                <a:latin typeface="Georgia"/>
                <a:ea typeface="Georgia"/>
              </a:rPr>
              <a:t>ЛЕВО</a:t>
            </a:r>
          </a:p>
        </p:txBody>
      </p:sp>
      <p:sp>
        <p:nvSpPr>
          <p:cNvPr id="5" name="Shape 5"/>
          <p:cNvSpPr/>
          <p:nvPr/>
        </p:nvSpPr>
        <p:spPr>
          <a:xfrm>
            <a:off x="4114800" y="3238500"/>
            <a:ext cx="350520" cy="22860"/>
          </a:xfrm>
          <a:prstGeom prst="rect">
            <a:avLst/>
          </a:prstGeom>
          <a:solidFill>
            <a:srgbClr val="642438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4511040" y="30327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marR="0" indent="0" lvl="0"/>
            <a:endParaRPr lang="ru-RU"/>
            <a:r>
              <a:rPr lang="ru-RU" sz="6700">
                <a:solidFill>
                  <a:srgbClr val="171516"/>
                </a:solidFill>
                <a:latin typeface="Georgia"/>
                <a:ea typeface="Georgia"/>
              </a:rPr>
              <a:t>ЦЕНТР</a:t>
            </a:r>
          </a:p>
        </p:txBody>
      </p:sp>
      <p:sp>
        <p:nvSpPr>
          <p:cNvPr id="7" name="Shape 7"/>
          <p:cNvSpPr/>
          <p:nvPr/>
        </p:nvSpPr>
        <p:spPr>
          <a:xfrm>
            <a:off x="7749540" y="3238500"/>
            <a:ext cx="350520" cy="22860"/>
          </a:xfrm>
          <a:prstGeom prst="rect">
            <a:avLst/>
          </a:prstGeom>
          <a:solidFill>
            <a:srgbClr val="642438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8145780" y="303276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 marL="0" marR="0" indent="0" lvl="0"/>
            <a:endParaRPr lang="ru-RU"/>
            <a:r>
              <a:rPr lang="ru-RU" sz="6700">
                <a:solidFill>
                  <a:srgbClr val="171516"/>
                </a:solidFill>
                <a:latin typeface="Georgia"/>
                <a:ea typeface="Georgia"/>
              </a:rPr>
              <a:t>ПРАВО</a:t>
            </a:r>
          </a:p>
        </p:txBody>
      </p:sp>
      <p:sp>
        <p:nvSpPr>
          <p:cNvPr id="9" name="Shape 9"/>
          <p:cNvSpPr/>
          <p:nvPr/>
        </p:nvSpPr>
        <p:spPr>
          <a:xfrm>
            <a:off x="845820" y="4655820"/>
            <a:ext cx="104698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853440" y="5143500"/>
            <a:ext cx="104394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300">
                <a:solidFill>
                  <a:srgbClr val="787378"/>
                </a:solidFill>
                <a:latin typeface="Arial"/>
                <a:ea typeface="Arial"/>
              </a:rPr>
              <a:t>Улыбка и мимика должны соответствовать смыслу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0104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800">
                <a:solidFill>
                  <a:srgbClr val="171516"/>
                </a:solidFill>
                <a:latin typeface="Georgia"/>
                <a:ea typeface="Georgia"/>
              </a:rPr>
              <a:t>Сцена: важны детали</a:t>
            </a:r>
          </a:p>
        </p:txBody>
      </p:sp>
      <p:sp>
        <p:nvSpPr>
          <p:cNvPr id="3" name="Shape 3"/>
          <p:cNvSpPr/>
          <p:nvPr/>
        </p:nvSpPr>
        <p:spPr>
          <a:xfrm>
            <a:off x="868680" y="2499360"/>
            <a:ext cx="9525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700">
                <a:solidFill>
                  <a:srgbClr val="642438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4" name="Shape 4"/>
          <p:cNvSpPr/>
          <p:nvPr/>
        </p:nvSpPr>
        <p:spPr>
          <a:xfrm>
            <a:off x="1897380" y="2575560"/>
            <a:ext cx="4152900" cy="5257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600" b="1">
                <a:solidFill>
                  <a:srgbClr val="171516"/>
                </a:solidFill>
                <a:latin typeface="Arial"/>
                <a:ea typeface="Arial"/>
              </a:rPr>
              <a:t>ДВИЖЕНИЕ</a:t>
            </a:r>
          </a:p>
        </p:txBody>
      </p:sp>
      <p:sp>
        <p:nvSpPr>
          <p:cNvPr id="5" name="Shape 5"/>
          <p:cNvSpPr/>
          <p:nvPr/>
        </p:nvSpPr>
        <p:spPr>
          <a:xfrm>
            <a:off x="868680" y="3215640"/>
            <a:ext cx="48310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868680" y="3406140"/>
            <a:ext cx="49530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Только с целью</a:t>
            </a:r>
          </a:p>
        </p:txBody>
      </p:sp>
      <p:sp>
        <p:nvSpPr>
          <p:cNvPr id="7" name="Shape 7"/>
          <p:cNvSpPr/>
          <p:nvPr/>
        </p:nvSpPr>
        <p:spPr>
          <a:xfrm>
            <a:off x="6339840" y="2499360"/>
            <a:ext cx="9525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700">
                <a:solidFill>
                  <a:srgbClr val="642438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8" name="Shape 8"/>
          <p:cNvSpPr/>
          <p:nvPr/>
        </p:nvSpPr>
        <p:spPr>
          <a:xfrm>
            <a:off x="7368540" y="2575560"/>
            <a:ext cx="4152900" cy="5257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600" b="1">
                <a:solidFill>
                  <a:srgbClr val="171516"/>
                </a:solidFill>
                <a:latin typeface="Arial"/>
                <a:ea typeface="Arial"/>
              </a:rPr>
              <a:t>КАБЛУКИ</a:t>
            </a:r>
          </a:p>
        </p:txBody>
      </p:sp>
      <p:sp>
        <p:nvSpPr>
          <p:cNvPr id="9" name="Shape 9"/>
          <p:cNvSpPr/>
          <p:nvPr/>
        </p:nvSpPr>
        <p:spPr>
          <a:xfrm>
            <a:off x="6339840" y="3215640"/>
            <a:ext cx="48310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6339840" y="3406140"/>
            <a:ext cx="49530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Устойчивость и шаг</a:t>
            </a:r>
          </a:p>
        </p:txBody>
      </p:sp>
      <p:sp>
        <p:nvSpPr>
          <p:cNvPr id="11" name="Shape 11"/>
          <p:cNvSpPr/>
          <p:nvPr/>
        </p:nvSpPr>
        <p:spPr>
          <a:xfrm>
            <a:off x="868680" y="4389120"/>
            <a:ext cx="9525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700">
                <a:solidFill>
                  <a:srgbClr val="642438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2" name="Shape 12"/>
          <p:cNvSpPr/>
          <p:nvPr/>
        </p:nvSpPr>
        <p:spPr>
          <a:xfrm>
            <a:off x="1897380" y="4465320"/>
            <a:ext cx="4152900" cy="5257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600" b="1">
                <a:solidFill>
                  <a:srgbClr val="171516"/>
                </a:solidFill>
                <a:latin typeface="Arial"/>
                <a:ea typeface="Arial"/>
              </a:rPr>
              <a:t>ПЛАТЬЕ</a:t>
            </a:r>
          </a:p>
        </p:txBody>
      </p:sp>
      <p:sp>
        <p:nvSpPr>
          <p:cNvPr id="13" name="Shape 13"/>
          <p:cNvSpPr/>
          <p:nvPr/>
        </p:nvSpPr>
        <p:spPr>
          <a:xfrm>
            <a:off x="868680" y="5105400"/>
            <a:ext cx="48310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868680" y="5295900"/>
            <a:ext cx="49530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Свобода жестов</a:t>
            </a:r>
          </a:p>
        </p:txBody>
      </p:sp>
      <p:sp>
        <p:nvSpPr>
          <p:cNvPr id="15" name="Shape 15"/>
          <p:cNvSpPr/>
          <p:nvPr/>
        </p:nvSpPr>
        <p:spPr>
          <a:xfrm>
            <a:off x="6339840" y="4389120"/>
            <a:ext cx="9525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700">
                <a:solidFill>
                  <a:srgbClr val="642438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6" name="Shape 16"/>
          <p:cNvSpPr/>
          <p:nvPr/>
        </p:nvSpPr>
        <p:spPr>
          <a:xfrm>
            <a:off x="7368540" y="4465320"/>
            <a:ext cx="4152900" cy="5257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600" b="1">
                <a:solidFill>
                  <a:srgbClr val="171516"/>
                </a:solidFill>
                <a:latin typeface="Arial"/>
                <a:ea typeface="Arial"/>
              </a:rPr>
              <a:t>МИКРОФОН</a:t>
            </a:r>
          </a:p>
        </p:txBody>
      </p:sp>
      <p:sp>
        <p:nvSpPr>
          <p:cNvPr id="17" name="Shape 17"/>
          <p:cNvSpPr/>
          <p:nvPr/>
        </p:nvSpPr>
        <p:spPr>
          <a:xfrm>
            <a:off x="6339840" y="5105400"/>
            <a:ext cx="483108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8" name="Shape 18"/>
          <p:cNvSpPr/>
          <p:nvPr/>
        </p:nvSpPr>
        <p:spPr>
          <a:xfrm>
            <a:off x="6339840" y="5295900"/>
            <a:ext cx="4953000" cy="655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Постоянная дистанция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67818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300">
                <a:solidFill>
                  <a:srgbClr val="171516"/>
                </a:solidFill>
                <a:latin typeface="Georgia"/>
                <a:ea typeface="Georgia"/>
              </a:rPr>
              <a:t>Как справиться с волнением</a:t>
            </a:r>
          </a:p>
        </p:txBody>
      </p:sp>
      <p:sp>
        <p:nvSpPr>
          <p:cNvPr id="3" name="Shape 3"/>
          <p:cNvSpPr/>
          <p:nvPr/>
        </p:nvSpPr>
        <p:spPr>
          <a:xfrm>
            <a:off x="822960" y="224028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838200" y="2385060"/>
            <a:ext cx="1264920" cy="716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900">
                <a:solidFill>
                  <a:srgbClr val="642438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5" name="Shape 5"/>
          <p:cNvSpPr/>
          <p:nvPr/>
        </p:nvSpPr>
        <p:spPr>
          <a:xfrm>
            <a:off x="2095500" y="2400300"/>
            <a:ext cx="42672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900" b="1">
                <a:solidFill>
                  <a:srgbClr val="171516"/>
                </a:solidFill>
                <a:latin typeface="Arial"/>
                <a:ea typeface="Arial"/>
              </a:rPr>
              <a:t>ДВИЖЕНИЕ</a:t>
            </a:r>
          </a:p>
        </p:txBody>
      </p:sp>
      <p:sp>
        <p:nvSpPr>
          <p:cNvPr id="6" name="Shape 6"/>
          <p:cNvSpPr/>
          <p:nvPr/>
        </p:nvSpPr>
        <p:spPr>
          <a:xfrm>
            <a:off x="6400800" y="2461260"/>
            <a:ext cx="4831080" cy="6172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Приседания, встряхнуть руки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25374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838200" y="3398520"/>
            <a:ext cx="1264920" cy="716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900">
                <a:solidFill>
                  <a:srgbClr val="642438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9" name="Shape 9"/>
          <p:cNvSpPr/>
          <p:nvPr/>
        </p:nvSpPr>
        <p:spPr>
          <a:xfrm>
            <a:off x="2095500" y="3413760"/>
            <a:ext cx="42672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900" b="1">
                <a:solidFill>
                  <a:srgbClr val="171516"/>
                </a:solidFill>
                <a:latin typeface="Arial"/>
                <a:ea typeface="Arial"/>
              </a:rPr>
              <a:t>ЗАЗЕМЛЕНИЕ</a:t>
            </a:r>
          </a:p>
        </p:txBody>
      </p:sp>
      <p:sp>
        <p:nvSpPr>
          <p:cNvPr id="10" name="Shape 10"/>
          <p:cNvSpPr/>
          <p:nvPr/>
        </p:nvSpPr>
        <p:spPr>
          <a:xfrm>
            <a:off x="6400800" y="3474720"/>
            <a:ext cx="4831080" cy="6172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Почувствовать стопы и опору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426720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838200" y="4411980"/>
            <a:ext cx="1264920" cy="716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900">
                <a:solidFill>
                  <a:srgbClr val="642438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13" name="Shape 13"/>
          <p:cNvSpPr/>
          <p:nvPr/>
        </p:nvSpPr>
        <p:spPr>
          <a:xfrm>
            <a:off x="2095500" y="4427220"/>
            <a:ext cx="42672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900" b="1">
                <a:solidFill>
                  <a:srgbClr val="171516"/>
                </a:solidFill>
                <a:latin typeface="Arial"/>
                <a:ea typeface="Arial"/>
              </a:rPr>
              <a:t>ДЫХАНИЕ 4–4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0" y="4488180"/>
            <a:ext cx="4831080" cy="6172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Вдох 4 · Выдох 4</a:t>
            </a:r>
          </a:p>
        </p:txBody>
      </p:sp>
      <p:sp>
        <p:nvSpPr>
          <p:cNvPr id="15" name="Shape 15"/>
          <p:cNvSpPr/>
          <p:nvPr/>
        </p:nvSpPr>
        <p:spPr>
          <a:xfrm>
            <a:off x="822960" y="5280660"/>
            <a:ext cx="10515600" cy="1524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838200" y="5425440"/>
            <a:ext cx="1264920" cy="716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6900">
                <a:solidFill>
                  <a:srgbClr val="642438"/>
                </a:solidFill>
                <a:latin typeface="Georgia"/>
                <a:ea typeface="Georgia"/>
              </a:rPr>
              <a:t>04</a:t>
            </a:r>
          </a:p>
        </p:txBody>
      </p:sp>
      <p:sp>
        <p:nvSpPr>
          <p:cNvPr id="17" name="Shape 17"/>
          <p:cNvSpPr/>
          <p:nvPr/>
        </p:nvSpPr>
        <p:spPr>
          <a:xfrm>
            <a:off x="2095500" y="5440680"/>
            <a:ext cx="4267200" cy="624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900" b="1">
                <a:solidFill>
                  <a:srgbClr val="171516"/>
                </a:solidFill>
                <a:latin typeface="Arial"/>
                <a:ea typeface="Arial"/>
              </a:rPr>
              <a:t>РАССЛАБЛЕНИЕ</a:t>
            </a:r>
          </a:p>
        </p:txBody>
      </p:sp>
      <p:sp>
        <p:nvSpPr>
          <p:cNvPr id="18" name="Shape 18"/>
          <p:cNvSpPr/>
          <p:nvPr/>
        </p:nvSpPr>
        <p:spPr>
          <a:xfrm>
            <a:off x="6400800" y="5501640"/>
            <a:ext cx="4831080" cy="6172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3100">
                <a:solidFill>
                  <a:srgbClr val="787378"/>
                </a:solidFill>
                <a:latin typeface="Arial"/>
                <a:ea typeface="Arial"/>
              </a:rPr>
              <a:t>Кисти, плечи, челюсть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92480" y="769620"/>
            <a:ext cx="10607040" cy="1036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7400">
                <a:solidFill>
                  <a:srgbClr val="171516"/>
                </a:solidFill>
                <a:latin typeface="Georgia"/>
                <a:ea typeface="Georgia"/>
              </a:rPr>
              <a:t>Если забыли текст на сцене</a:t>
            </a:r>
          </a:p>
        </p:txBody>
      </p:sp>
      <p:sp>
        <p:nvSpPr>
          <p:cNvPr id="3" name="Shape 3"/>
          <p:cNvSpPr/>
          <p:nvPr/>
        </p:nvSpPr>
        <p:spPr>
          <a:xfrm>
            <a:off x="853440" y="2910840"/>
            <a:ext cx="262128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600">
                <a:solidFill>
                  <a:srgbClr val="171516"/>
                </a:solidFill>
                <a:latin typeface="Georgia"/>
                <a:ea typeface="Georgia"/>
              </a:rPr>
              <a:t>СТОП</a:t>
            </a:r>
          </a:p>
        </p:txBody>
      </p:sp>
      <p:sp>
        <p:nvSpPr>
          <p:cNvPr id="4" name="Shape 4"/>
          <p:cNvSpPr/>
          <p:nvPr/>
        </p:nvSpPr>
        <p:spPr>
          <a:xfrm>
            <a:off x="3246120" y="3070860"/>
            <a:ext cx="4572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000">
                <a:solidFill>
                  <a:srgbClr val="787378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5" name="Shape 5"/>
          <p:cNvSpPr/>
          <p:nvPr/>
        </p:nvSpPr>
        <p:spPr>
          <a:xfrm>
            <a:off x="3672840" y="2910840"/>
            <a:ext cx="262128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600">
                <a:solidFill>
                  <a:srgbClr val="171516"/>
                </a:solidFill>
                <a:latin typeface="Georgia"/>
                <a:ea typeface="Georgia"/>
              </a:rPr>
              <a:t>ОПОРА</a:t>
            </a:r>
          </a:p>
        </p:txBody>
      </p:sp>
      <p:sp>
        <p:nvSpPr>
          <p:cNvPr id="6" name="Shape 6"/>
          <p:cNvSpPr/>
          <p:nvPr/>
        </p:nvSpPr>
        <p:spPr>
          <a:xfrm>
            <a:off x="6065520" y="3070860"/>
            <a:ext cx="4572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000">
                <a:solidFill>
                  <a:srgbClr val="787378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7" name="Shape 7"/>
          <p:cNvSpPr/>
          <p:nvPr/>
        </p:nvSpPr>
        <p:spPr>
          <a:xfrm>
            <a:off x="6492240" y="2910840"/>
            <a:ext cx="262128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600">
                <a:solidFill>
                  <a:srgbClr val="171516"/>
                </a:solidFill>
                <a:latin typeface="Georgia"/>
                <a:ea typeface="Georgia"/>
              </a:rPr>
              <a:t>ВЫДОХ</a:t>
            </a:r>
          </a:p>
        </p:txBody>
      </p:sp>
      <p:sp>
        <p:nvSpPr>
          <p:cNvPr id="8" name="Shape 8"/>
          <p:cNvSpPr/>
          <p:nvPr/>
        </p:nvSpPr>
        <p:spPr>
          <a:xfrm>
            <a:off x="8884920" y="3070860"/>
            <a:ext cx="457200" cy="472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000">
                <a:solidFill>
                  <a:srgbClr val="787378"/>
                </a:solidFill>
                <a:latin typeface="Arial"/>
                <a:ea typeface="Arial"/>
              </a:rPr>
              <a:t>→</a:t>
            </a:r>
          </a:p>
        </p:txBody>
      </p:sp>
      <p:sp>
        <p:nvSpPr>
          <p:cNvPr id="9" name="Shape 9"/>
          <p:cNvSpPr/>
          <p:nvPr/>
        </p:nvSpPr>
        <p:spPr>
          <a:xfrm>
            <a:off x="9311640" y="2910840"/>
            <a:ext cx="2621280" cy="800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5600">
                <a:solidFill>
                  <a:srgbClr val="642438"/>
                </a:solidFill>
                <a:latin typeface="Georgia"/>
                <a:ea typeface="Georgia"/>
              </a:rPr>
              <a:t>МЫСЛЬ</a:t>
            </a:r>
          </a:p>
        </p:txBody>
      </p:sp>
      <p:sp>
        <p:nvSpPr>
          <p:cNvPr id="10" name="Shape 10"/>
          <p:cNvSpPr/>
          <p:nvPr/>
        </p:nvSpPr>
        <p:spPr>
          <a:xfrm>
            <a:off x="838200" y="4419600"/>
            <a:ext cx="10515600" cy="22860"/>
          </a:xfrm>
          <a:prstGeom prst="rect">
            <a:avLst/>
          </a:prstGeom>
          <a:solidFill>
            <a:srgbClr val="DDD9DA"/>
          </a:solidFill>
          <a:ln>
            <a:noFill/>
          </a:ln>
        </p:spPr>
      </p:sp>
      <p:sp>
        <p:nvSpPr>
          <p:cNvPr id="11" name="Shape 11"/>
          <p:cNvSpPr/>
          <p:nvPr/>
        </p:nvSpPr>
        <p:spPr>
          <a:xfrm>
            <a:off x="853440" y="4953000"/>
            <a:ext cx="105156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 marL="0" marR="0" indent="0" lvl="0"/>
            <a:endParaRPr lang="ru-RU"/>
            <a:r>
              <a:rPr lang="ru-RU" sz="4800">
                <a:solidFill>
                  <a:srgbClr val="642438"/>
                </a:solidFill>
                <a:latin typeface="Georgia"/>
                <a:ea typeface="Georgia"/>
              </a:rPr>
              <a:t>Извиняться не нужно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171516"/>
      </a:dk1>
      <a:lt1>
        <a:sysClr val="window" lastClr="FFFFFF"/>
      </a:lt1>
      <a:dk2>
        <a:srgbClr val="171516"/>
      </a:dk2>
      <a:lt2>
        <a:srgbClr val="FFFFFF"/>
      </a:lt2>
      <a:accent1>
        <a:srgbClr val="642438"/>
      </a:accent1>
      <a:accent2>
        <a:srgbClr val="787378"/>
      </a:accent2>
      <a:accent3>
        <a:srgbClr val="DDD9DA"/>
      </a:accent3>
      <a:accent4>
        <a:srgbClr val="642438"/>
      </a:accent4>
      <a:accent5>
        <a:srgbClr val="171516"/>
      </a:accent5>
      <a:accent6>
        <a:srgbClr val="FFFFFF"/>
      </a:accent6>
      <a:hlink>
        <a:srgbClr val="642438"/>
      </a:hlink>
      <a:folHlink>
        <a:srgbClr val="787378"/>
      </a:folHlink>
    </a:clrScheme>
    <a:fontScheme name="Edito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Editorial">
      <a:fillStyleLst>
        <a:solidFill>
          <a:srgbClr val="FFFFFF"/>
        </a:solidFill>
        <a:solidFill>
          <a:srgbClr val="171516"/>
        </a:solidFill>
        <a:gradFill rotWithShape="1">
          <a:gsLst>
            <a:gs pos="0">
              <a:solidFill>
                <a:srgbClr val="FFFFFF"/>
              </a:solidFill>
            </a:gs>
            <a:gs pos="100000">
              <a:solidFill>
                <a:srgbClr val="DDD9DA"/>
              </a:solidFill>
            </a:gs>
          </a:gsLst>
          <a:lin ang="5400000" scaled="1"/>
        </a:gradFill>
      </a:fillStyleLst>
      <a:lnStyleLst>
        <a:ln w="6350">
          <a:solidFill>
            <a:srgbClr val="171516"/>
          </a:solidFill>
        </a:ln>
        <a:ln w="12700">
          <a:solidFill>
            <a:srgbClr val="171516"/>
          </a:solidFill>
        </a:ln>
        <a:ln w="19050">
          <a:solidFill>
            <a:srgbClr val="171516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16</Slides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Самопрезентация — Миссис Россия Иваново</dc:title>
  <dc:creator>OpenAI</dc:creator>
  <cp:lastModifiedBy>OpenAI</cp:lastModifiedBy>
  <dcterms:created xsi:type="dcterms:W3CDTF">2026-10-26T18:00:00Z</dcterms:created>
</cp:coreProperties>
</file>